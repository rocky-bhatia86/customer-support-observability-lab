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9FAFB"/>
                </a:solidFill>
                <a:latin typeface="Arial"/>
              </a:defRPr>
            </a:pPr>
            <a:r>
              <a:t>FROM PROTOTYPE TO PRODUCTION</a:t>
            </a:r>
          </a:p>
          <a:p>
            <a:pPr>
              <a:defRPr sz="1300">
                <a:solidFill>
                  <a:srgbClr val="9CA3AF"/>
                </a:solidFill>
                <a:latin typeface="Arial"/>
              </a:defRPr>
            </a:pPr>
            <a:r>
              <a:t>“What works in a prototype can quietly fail in production.”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0" y="411480"/>
            <a:ext cx="1828800" cy="320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C084FC"/>
                </a:solidFill>
              </a:defRPr>
            </a:pPr>
            <a:r>
              <a:t>COMPLEXITY SHIFT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657600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PROTOTYPE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2103120"/>
            <a:ext cx="2743200" cy="411480"/>
          </a:xfrm>
          <a:prstGeom prst="roundRect">
            <a:avLst/>
          </a:prstGeom>
          <a:solidFill>
            <a:srgbClr val="090D1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9FAFB"/>
                </a:solidFill>
              </a:defRPr>
            </a:pPr>
            <a:r>
              <a:t>INPUT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3017520"/>
            <a:ext cx="2743200" cy="411480"/>
          </a:xfrm>
          <a:prstGeom prst="roundRect">
            <a:avLst/>
          </a:prstGeom>
          <a:solidFill>
            <a:srgbClr val="090D1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9FAFB"/>
                </a:solidFill>
              </a:defRPr>
            </a:pPr>
            <a:r>
              <a:t>SINGLE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3931920"/>
            <a:ext cx="2743200" cy="411480"/>
          </a:xfrm>
          <a:prstGeom prst="roundRect">
            <a:avLst/>
          </a:prstGeom>
          <a:solidFill>
            <a:srgbClr val="090D1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9FAFB"/>
                </a:solidFill>
              </a:defRPr>
            </a:pPr>
            <a:r>
              <a:t>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560320"/>
            <a:ext cx="137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CA3AF"/>
                </a:solidFill>
              </a:defRPr>
            </a:pPr>
            <a:r>
              <a:t>SIMPLE</a:t>
            </a:r>
            <a:br/>
            <a:r>
              <a:t>↓</a:t>
            </a:r>
            <a:br/>
            <a:r>
              <a:t>COMPLEXITY</a:t>
            </a:r>
            <a:br/>
            <a:r>
              <a:t>SHIFT</a:t>
            </a:r>
            <a:br/>
            <a:r>
              <a:t>↓</a:t>
            </a:r>
            <a:br/>
            <a:r>
              <a:t>DISTRIBUTED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33695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0" y="1920240"/>
            <a:ext cx="4419295" cy="411480"/>
          </a:xfrm>
          <a:prstGeom prst="roundRect">
            <a:avLst/>
          </a:prstGeom>
          <a:solidFill>
            <a:srgbClr val="090D16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9FAFB"/>
                </a:solidFill>
              </a:defRPr>
            </a:pPr>
            <a:r>
              <a:t>REAL-WORLD TRAFFIC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651760"/>
            <a:ext cx="4419295" cy="411480"/>
          </a:xfrm>
          <a:prstGeom prst="roundRect">
            <a:avLst/>
          </a:prstGeom>
          <a:solidFill>
            <a:srgbClr val="090D16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9FAFB"/>
                </a:solidFill>
              </a:defRPr>
            </a:pPr>
            <a:r>
              <a:t>ROUTER / ORCHESTRATOR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3383280"/>
            <a:ext cx="4419295" cy="411480"/>
          </a:xfrm>
          <a:prstGeom prst="roundRect">
            <a:avLst/>
          </a:prstGeom>
          <a:solidFill>
            <a:srgbClr val="090D16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9FAFB"/>
                </a:solidFill>
              </a:defRPr>
            </a:pPr>
            <a:r>
              <a:t>SPECIALIST AGENTS (A / B / C)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4114800"/>
            <a:ext cx="4419295" cy="411480"/>
          </a:xfrm>
          <a:prstGeom prst="roundRect">
            <a:avLst/>
          </a:prstGeom>
          <a:solidFill>
            <a:srgbClr val="090D16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9FAFB"/>
                </a:solidFill>
              </a:defRPr>
            </a:pPr>
            <a:r>
              <a:t>TOOLS / APIs (Retry ↺) +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4846320"/>
            <a:ext cx="4419295" cy="411480"/>
          </a:xfrm>
          <a:prstGeom prst="roundRect">
            <a:avLst/>
          </a:prstGeom>
          <a:solidFill>
            <a:srgbClr val="090D16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9FAFB"/>
                </a:solidFill>
              </a:defRPr>
            </a:pPr>
            <a:r>
              <a:t>FINAL RESPONSE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943600"/>
            <a:ext cx="10728655" cy="502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9FAFB"/>
                </a:solidFill>
              </a:defRPr>
            </a:pPr>
            <a:r>
              <a:t>“Production turns an AI experiment into a system you have to operate.”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20" y="6035040"/>
            <a:ext cx="1828800" cy="320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B7185"/>
                </a:solidFill>
              </a:defRPr>
            </a:pPr>
            <a:r>
              <a:t>OPERATING REALITY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9FAFB"/>
                </a:solidFill>
                <a:latin typeface="Arial"/>
              </a:defRPr>
            </a:pPr>
            <a:r>
              <a:t>WHAT ACTUALLY GOES WRONG</a:t>
            </a:r>
          </a:p>
          <a:p>
            <a:pPr>
              <a:defRPr sz="1300">
                <a:solidFill>
                  <a:srgbClr val="9CA3AF"/>
                </a:solidFill>
                <a:latin typeface="Arial"/>
              </a:defRPr>
            </a:pPr>
            <a:r>
              <a:t>“The biggest AI failures are often hidden inside otherwise successful requests.”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0" y="411480"/>
            <a:ext cx="1828800" cy="320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B7185"/>
                </a:solidFill>
              </a:defRPr>
            </a:pPr>
            <a:r>
              <a:t>HIDDEN FAILURE MODES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50292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34D399"/>
                </a:solidFill>
              </a:defRPr>
            </a:pPr>
            <a:r>
              <a:t>TRACE_ID: tr_9842_x81   |   LATENCY: 4.82s (+3.1s)   |   TOKENS: 14,250 (~3x)   |   STATUS: ✓ 200 OK • SUCCEEDED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8655" cy="137160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468880"/>
            <a:ext cx="1463040" cy="457200"/>
          </a:xfrm>
          <a:prstGeom prst="roundRect">
            <a:avLst/>
          </a:prstGeom>
          <a:solidFill>
            <a:srgbClr val="090D1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9FAFB"/>
                </a:solidFill>
              </a:defRPr>
            </a:pPr>
            <a:r>
              <a:t>Request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80" y="2468880"/>
            <a:ext cx="1463040" cy="457200"/>
          </a:xfrm>
          <a:prstGeom prst="roundRect">
            <a:avLst/>
          </a:prstGeom>
          <a:solidFill>
            <a:srgbClr val="090D1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9FAFB"/>
                </a:solidFill>
              </a:defRPr>
            </a:pPr>
            <a:r>
              <a:t>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468880"/>
            <a:ext cx="1463040" cy="457200"/>
          </a:xfrm>
          <a:prstGeom prst="roundRect">
            <a:avLst/>
          </a:prstGeom>
          <a:solidFill>
            <a:srgbClr val="090D16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9FAFB"/>
                </a:solidFill>
              </a:defRPr>
            </a:pPr>
            <a:r>
              <a:t>Tool (Stalled)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2468880"/>
            <a:ext cx="1463040" cy="457200"/>
          </a:xfrm>
          <a:prstGeom prst="roundRect">
            <a:avLst/>
          </a:prstGeom>
          <a:solidFill>
            <a:srgbClr val="090D16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9FAFB"/>
                </a:solidFill>
              </a:defRPr>
            </a:pPr>
            <a:r>
              <a:t>Agent Fallback 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468880"/>
            <a:ext cx="1463040" cy="457200"/>
          </a:xfrm>
          <a:prstGeom prst="roundRect">
            <a:avLst/>
          </a:prstGeom>
          <a:solidFill>
            <a:srgbClr val="090D1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9FAFB"/>
                </a:solidFill>
              </a:defRPr>
            </a:pPr>
            <a:r>
              <a:t>Model #2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64040" y="2468880"/>
            <a:ext cx="1463040" cy="457200"/>
          </a:xfrm>
          <a:prstGeom prst="roundRect">
            <a:avLst/>
          </a:prstGeom>
          <a:solidFill>
            <a:srgbClr val="090D1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9FAFB"/>
                </a:solidFill>
              </a:defRPr>
            </a:pPr>
            <a:r>
              <a:t>Response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2560320" cy="2011680"/>
          </a:xfrm>
          <a:prstGeom prst="roundRect">
            <a:avLst/>
          </a:prstGeom>
          <a:solidFill>
            <a:srgbClr val="1118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TOKEN SPIKE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Context bloated to 14k tokens due to error loops.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3657600"/>
            <a:ext cx="2560320" cy="2011680"/>
          </a:xfrm>
          <a:prstGeom prst="roundRect">
            <a:avLst/>
          </a:prstGeom>
          <a:solidFill>
            <a:srgbClr val="1118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LATENCY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External API call timed out after 3.8s execution.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3657600"/>
            <a:ext cx="2560320" cy="2011680"/>
          </a:xfrm>
          <a:prstGeom prst="roundRect">
            <a:avLst/>
          </a:prstGeom>
          <a:solidFill>
            <a:srgbClr val="1118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RETRY LOOP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Agent executed 2 extra retries on schema mismatch.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3657600"/>
            <a:ext cx="2560320" cy="2011680"/>
          </a:xfrm>
          <a:prstGeom prst="roundRect">
            <a:avLst/>
          </a:prstGeom>
          <a:solidFill>
            <a:srgbClr val="111827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B7185"/>
                </a:solidFill>
              </a:defRPr>
            </a:pPr>
            <a:r>
              <a:t>QUALITY REGRESSION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Semantic relevance score dropped -22% on fallback.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943600"/>
            <a:ext cx="10728655" cy="502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9FAFB"/>
                </a:solidFill>
              </a:defRPr>
            </a:pPr>
            <a:r>
              <a:t>“A successful response does not mean a healthy AI system.”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8320" y="6035040"/>
            <a:ext cx="1828800" cy="320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B7185"/>
                </a:solidFill>
              </a:defRPr>
            </a:pPr>
            <a:r>
              <a:t>INTERNAL REALITY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9FAFB"/>
                </a:solidFill>
                <a:latin typeface="Arial"/>
              </a:defRPr>
            </a:pPr>
            <a:r>
              <a:t>WHY MONITORING ISN’T ENOUGH</a:t>
            </a:r>
          </a:p>
          <a:p>
            <a:pPr>
              <a:defRPr sz="1300">
                <a:solidFill>
                  <a:srgbClr val="9CA3AF"/>
                </a:solidFill>
                <a:latin typeface="Arial"/>
              </a:defRPr>
            </a:pPr>
            <a:r>
              <a:t>“Monitoring tells you something happened. Observability and evaluation tell you what, why, and whether it is getting better.”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0" y="411480"/>
            <a:ext cx="1828800" cy="320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C084FC"/>
                </a:solidFill>
              </a:defRPr>
            </a:pPr>
            <a:r>
              <a:t>SYSTEM VISIBILITY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4297680"/>
          </a:xfrm>
          <a:prstGeom prst="round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9CA3AF"/>
                </a:solidFill>
              </a:defRPr>
            </a:pPr>
            <a:r>
              <a:t>TRADITIONAL MONITORING</a:t>
            </a:r>
            <a:br/>
            <a:br/>
            <a:br/>
            <a:r>
              <a:t>[ BLACK BOX ]</a:t>
            </a:r>
            <a:br/>
            <a:br/>
            <a:br/>
            <a:r>
              <a:t>Latency • Errors • Availability</a:t>
            </a:r>
            <a:br/>
            <a:br/>
            <a:br/>
            <a:r>
              <a:t>“Something failed. But why?”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371600"/>
            <a:ext cx="4572000" cy="429768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80560" y="2011680"/>
            <a:ext cx="4023360" cy="457200"/>
          </a:xfrm>
          <a:prstGeom prst="roundRect">
            <a:avLst/>
          </a:prstGeom>
          <a:solidFill>
            <a:srgbClr val="090D1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9FAFB"/>
                </a:solidFill>
              </a:defRPr>
            </a:pPr>
            <a:r>
              <a:t>AGENT → EXECUTING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834640"/>
            <a:ext cx="4023360" cy="457200"/>
          </a:xfrm>
          <a:prstGeom prst="roundRect">
            <a:avLst/>
          </a:prstGeom>
          <a:solidFill>
            <a:srgbClr val="090D1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9FAFB"/>
                </a:solidFill>
              </a:defRPr>
            </a:pPr>
            <a:r>
              <a:t>MODEL → PROMPT &amp;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3657600"/>
            <a:ext cx="4023360" cy="457200"/>
          </a:xfrm>
          <a:prstGeom prst="roundRect">
            <a:avLst/>
          </a:prstGeom>
          <a:solidFill>
            <a:srgbClr val="090D1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9FAFB"/>
                </a:solidFill>
              </a:defRPr>
            </a:pPr>
            <a:r>
              <a:t>TOOL / API → EXECUTION TRACE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4480560"/>
            <a:ext cx="4023360" cy="457200"/>
          </a:xfrm>
          <a:prstGeom prst="roundRect">
            <a:avLst/>
          </a:prstGeom>
          <a:solidFill>
            <a:srgbClr val="090D1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9FAFB"/>
                </a:solidFill>
              </a:defRPr>
            </a:pPr>
            <a:r>
              <a:t>RETRIEVAL → CHUNKS &amp; SCORES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371600"/>
            <a:ext cx="2499055" cy="4297680"/>
          </a:xfrm>
          <a:prstGeom prst="roundRect">
            <a:avLst/>
          </a:prstGeom>
          <a:solidFill>
            <a:srgbClr val="111827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9CA3AF"/>
                </a:solidFill>
              </a:defRPr>
            </a:pPr>
            <a:r>
              <a:t>EVALUATION LOOP</a:t>
            </a:r>
            <a:br/>
            <a:br/>
            <a:r>
              <a:t>1. EXECUTION</a:t>
            </a:r>
            <a:br/>
            <a:r>
              <a:t>2. TRACE</a:t>
            </a:r>
            <a:br/>
            <a:r>
              <a:t>3. EVALUATION</a:t>
            </a:r>
            <a:br/>
            <a:r>
              <a:t>4. BASELINE</a:t>
            </a:r>
            <a:br/>
            <a:r>
              <a:t>5. IMPROVE ↺</a:t>
            </a:r>
            <a:br/>
            <a:br/>
            <a:r>
              <a:t>OUTPUT QUALITY:</a:t>
            </a:r>
            <a:br/>
            <a:r>
              <a:t>Correctness • Relevance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943600"/>
            <a:ext cx="10728655" cy="502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9FAFB"/>
                </a:solidFill>
              </a:defRPr>
            </a:pPr>
            <a:r>
              <a:t>“AI operations require visibility into both execution and intelligence.”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6035040"/>
            <a:ext cx="1828800" cy="320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C084FC"/>
                </a:solidFill>
              </a:defRPr>
            </a:pPr>
            <a:r>
              <a:t>SYSTEM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